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40CB2A-38E8-4CE7-AB05-B67B70246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A57F3D-562E-4870-882A-EE7A66685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BF84F6-918E-494A-A0C8-C5356D5B8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46CD-BFF1-47A4-9993-4B57B8C9DBCB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66EB87-DD0E-4EEA-B1FC-2576F49ED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06CE9E-3654-4EE7-826E-054A68361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4C938-3164-428A-9243-A63B8F884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6067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9404EB-CDF5-4F50-AF1E-E04AFBC9C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23594D-2D6A-4EFF-A79C-F29633647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2CC923-C382-4FDB-826E-C3AAC7FD0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46CD-BFF1-47A4-9993-4B57B8C9DBCB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9A44DC-74B4-488B-AD4D-DC3DC0350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E55574-E9A9-44D2-B557-C235DF97F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4C938-3164-428A-9243-A63B8F884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9362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AB3CE-8A6F-4D30-A0C6-B71CCBA54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E2D0C87-C881-495D-B613-655AFC61C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04DEFF-B7A9-43E9-A221-8C0BEF207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46CD-BFF1-47A4-9993-4B57B8C9DBCB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5836B6-5DCB-4E97-960F-45A759147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2A7B26-3E49-4B99-AFB2-F42FAB2A7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4C938-3164-428A-9243-A63B8F884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3876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6BE12C-5A89-4FFA-A561-0590AE582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E8318E-C4BC-4D3B-B28A-466F42BF16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44FB429-604C-4EF1-A459-EC4734C25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962A84-1390-4200-865D-C13876B2D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46CD-BFF1-47A4-9993-4B57B8C9DBCB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DBAB26F-B622-4142-BF71-1A566E447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53B98F-77CC-41DF-AAA9-E44E6B5CF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4C938-3164-428A-9243-A63B8F884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60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513899-CA06-4314-ADD7-DA4B6233D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E90ECF1-D61C-4399-B1FF-ACDC59F45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CD523-DAE2-40FE-86F7-991C5E00A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7B61104-04FE-4BFE-8D8A-B344FCB979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3CFEBE6-FA4B-49C0-94CC-4AD8319AA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85EE521-CED6-47A8-8DCD-EA329AC16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46CD-BFF1-47A4-9993-4B57B8C9DBCB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A88D4F6-205D-4EA8-AE79-F030EC65F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2012559-E9EB-40A4-802D-7D0B80DBC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4C938-3164-428A-9243-A63B8F884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505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DFC8F9-082B-40EB-B429-26F92FD60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858E9B2-D4B2-4D24-AE9C-874821A74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46CD-BFF1-47A4-9993-4B57B8C9DBCB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DEC0A00-5044-4B7D-8949-9F530FB14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7B8E2D9-CEE3-45E4-94F0-9CF667BCE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4C938-3164-428A-9243-A63B8F884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779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D59D7D3-E7E5-478A-B817-3F391FD28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46CD-BFF1-47A4-9993-4B57B8C9DBCB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9A74B34-6973-452F-A94F-AAEC10F32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55A4D2-CAC7-4062-A351-F2391B3D4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4C938-3164-428A-9243-A63B8F884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3728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5B1A99-3A0F-40BB-A05E-7C6429465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2E41FC-570D-4471-97AF-0876C9679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F34A3A1-23E0-4568-97A7-D25AAFEB9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483AFE-6629-4180-8F21-B45E6E555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46CD-BFF1-47A4-9993-4B57B8C9DBCB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E8F5C99-4511-494D-AED0-FD90E159E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2049552-2187-4A56-AC6D-FB0C1CBC7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4C938-3164-428A-9243-A63B8F884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939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27B807-C4F3-4D89-BB19-EBD165AEC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61373BB-6C41-4F68-B3D4-C8001A6E03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8ABBFEB-E802-494E-BA67-B7C098D5C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579ACC-5840-46E4-80E1-AB486DE1B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46CD-BFF1-47A4-9993-4B57B8C9DBCB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9BEAC4-2809-40E3-867E-759F851D5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4AA80D7-68F6-4F30-BAB8-6BF1C5B15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4C938-3164-428A-9243-A63B8F884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026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5F6390-0AB4-4CE0-BD6D-3CC0ADAF6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AB6360B-7B9D-43E6-8378-FAD820983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818087-74AD-40BE-8856-12AAC5D73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46CD-BFF1-47A4-9993-4B57B8C9DBCB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8A957F-7C95-4D51-B14C-A9FDB3947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1F5700-3A7C-4933-BD46-6A1F7D9B7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4C938-3164-428A-9243-A63B8F884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2519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7BF5DB7-3E7A-4CE6-99B4-03E012A7CE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92C3FAB-2188-47AF-9E43-6F8626FCF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24B31D-4845-413F-A1FA-D7611353C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346CD-BFF1-47A4-9993-4B57B8C9DBCB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339F0C-FDF9-4526-84C1-8EA2E2446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E4DDEE-8D93-4D96-B6F1-D1CAFFF55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44C938-3164-428A-9243-A63B8F884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460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E45555-6ED0-491B-B238-51C4505E5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604164-8EE0-4A18-9BAC-6C55CAC27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A14905-989A-45B8-9514-2D1EAD45C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346CD-BFF1-47A4-9993-4B57B8C9DBCB}" type="datetimeFigureOut">
              <a:rPr lang="ru-RU" smtClean="0"/>
              <a:t>23.02.2026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439300-B944-45A1-9E5E-A46A30B6C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D28E3F7-CAB8-49EA-AD64-3803A6386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44C938-3164-428A-9243-A63B8F884D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3217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82667C-6B3F-4DDD-8165-5A276DDA20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Нейросетевое</a:t>
            </a:r>
            <a:r>
              <a:rPr 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распознавание лиц по камерам в реальном времени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730309E-466E-4227-9A24-1E02BE936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39942" y="4385809"/>
            <a:ext cx="1822580" cy="1655762"/>
          </a:xfrm>
        </p:spPr>
        <p:txBody>
          <a:bodyPr/>
          <a:lstStyle/>
          <a:p>
            <a:r>
              <a:rPr lang="ru-RU" dirty="0"/>
              <a:t>Автор</a:t>
            </a:r>
            <a:r>
              <a:rPr lang="en-US" dirty="0"/>
              <a:t>: </a:t>
            </a:r>
            <a:r>
              <a:rPr lang="ru-RU" dirty="0"/>
              <a:t>Наземцев Артём</a:t>
            </a:r>
          </a:p>
        </p:txBody>
      </p:sp>
    </p:spTree>
    <p:extLst>
      <p:ext uri="{BB962C8B-B14F-4D97-AF65-F5344CB8AC3E}">
        <p14:creationId xmlns:p14="http://schemas.microsoft.com/office/powerpoint/2010/main" val="1487280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68AB56-D9B1-47AC-AEA0-26D7A1B29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Решаемые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7F738D-B0AA-4CA1-A125-6ECD9B1F9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цифровой «картотеки» лиц для теста</a:t>
            </a:r>
          </a:p>
          <a:p>
            <a:pPr marL="514350" indent="-51435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алгоритма идентификации</a:t>
            </a:r>
          </a:p>
          <a:p>
            <a:pPr marL="514350" indent="-51435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видеопотоком</a:t>
            </a:r>
          </a:p>
          <a:p>
            <a:pPr marL="514350" indent="-51435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реальными людьми – переобучение модели</a:t>
            </a:r>
          </a:p>
          <a:p>
            <a:pPr marL="514350" indent="-51435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работы системы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7617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1E5677-C83B-4019-A0DA-38E5C9842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 подготовка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датасета</a:t>
            </a: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тестирования модели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983853-BEE3-45A3-9816-09950F199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 – открытый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IMDb-Wiki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Оставили 50 людей с наибольшим числом фото</a:t>
            </a:r>
          </a:p>
          <a:p>
            <a:pPr marL="514350" indent="-51435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 проблемы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Информационного шума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(грязные данные)</a:t>
            </a:r>
          </a:p>
          <a:p>
            <a:pPr marL="514350" indent="-514350">
              <a:buAutoNum type="arabicPeriod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Перевод фотографий из изображения в числовые массивы(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эмбеддинги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630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D64F22-CA12-4B55-851A-8CF5EEDB1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для решения проблемы информационного шума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BD6328B6-F841-4ED1-8509-8E65D0EBA3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191645"/>
              </p:ext>
            </p:extLst>
          </p:nvPr>
        </p:nvGraphicFramePr>
        <p:xfrm>
          <a:off x="838200" y="1837214"/>
          <a:ext cx="10515600" cy="43281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0760531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1313988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342573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ru-RU" sz="18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Этап</a:t>
                      </a:r>
                      <a:endParaRPr lang="ru-RU" sz="18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</a:t>
                      </a:r>
                      <a:endParaRPr lang="ru-RU" sz="18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</a:t>
                      </a:r>
                      <a:endParaRPr lang="ru-RU" sz="18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439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ru-RU" sz="18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🧹 Очистка</a:t>
                      </a:r>
                      <a:endParaRPr lang="ru-RU" sz="180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endParaRPr lang="ru-RU" sz="180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/>
                      <a:r>
                        <a:rPr lang="ru-RU" sz="18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 фильтрации: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Автоматическое удаление кадров, которые сильно отклоняются от массы.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Избавление от размытых фото и чужих лиц в выборке.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6859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ru-RU" sz="18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💎 Сжатие</a:t>
                      </a:r>
                      <a:endParaRPr lang="ru-RU" sz="180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endParaRPr lang="ru-RU" sz="180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/>
                      <a:r>
                        <a:rPr lang="ru-RU" sz="18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Расчет </a:t>
                      </a:r>
                      <a:r>
                        <a:rPr lang="ru-RU" sz="18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Центроида</a:t>
                      </a:r>
                      <a:r>
                        <a:rPr lang="ru-RU" sz="18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L2-нормализация + среднее арифметическое всех векторов.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Вместо сотен фото хранится 1 математический эталон.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2584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ru-RU" sz="18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🚀 Эффект</a:t>
                      </a:r>
                      <a:endParaRPr lang="ru-RU" sz="18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endParaRPr lang="ru-RU" sz="180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rtl="0"/>
                      <a:r>
                        <a:rPr lang="ru-RU" sz="18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Оптимизация базы:</a:t>
                      </a:r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Компактность и высокая скорость сравнения.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sz="18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База стала в десятки раз легче и устойчивее к ошибкам.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3525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455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FE8277-ACEC-4E4E-94B6-ED821A3B7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методов способов классификации</a:t>
            </a: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25C6559E-4B12-4164-9F8C-C55C4BFC08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2612628"/>
              </p:ext>
            </p:extLst>
          </p:nvPr>
        </p:nvGraphicFramePr>
        <p:xfrm>
          <a:off x="838200" y="1837214"/>
          <a:ext cx="10515600" cy="405384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43882069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654312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0376765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9298704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72271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</a:t>
                      </a:r>
                      <a:endParaRPr lang="ru-RU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Как он «думает»</a:t>
                      </a:r>
                      <a:endParaRPr lang="ru-RU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Плюсы</a:t>
                      </a:r>
                      <a:endParaRPr lang="ru-RU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Минусы</a:t>
                      </a:r>
                      <a:endParaRPr lang="ru-RU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Вердикт</a:t>
                      </a:r>
                      <a:endParaRPr lang="ru-RU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16135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Обычная нейросеть (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Зазубривает конкретные лица.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Очень быстрая.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Чтобы добавить одного нового человека, нужно переучивать всё с нуля.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❌ </a:t>
                      </a:r>
                      <a:r>
                        <a:rPr lang="ru-RU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Неудобно</a:t>
                      </a:r>
                      <a:endParaRPr lang="ru-RU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695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 соседей (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Ищет в базе самое похожее фото.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Легко добавлять новых людей.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Ошибается, если в базе есть хоть одно «плохое» фото.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⚠️ </a:t>
                      </a:r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Нестабильно</a:t>
                      </a:r>
                      <a:endParaRPr lang="ru-RU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6348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Наш метод (Центроиды)</a:t>
                      </a:r>
                      <a:endParaRPr lang="ru-RU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Сравнивает лицо с </a:t>
                      </a:r>
                      <a:r>
                        <a:rPr lang="ru-RU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эталоном </a:t>
                      </a:r>
                      <a:r>
                        <a:rPr lang="ru-RU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(средним образом).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Высочайшая точность</a:t>
                      </a:r>
                      <a:r>
                        <a:rPr lang="ru-RU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устойчивость к помехам.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Требует качественной очистки данных (что мы и сделали).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</a:t>
                      </a:r>
                      <a:r>
                        <a:rPr lang="ru-RU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Идеально</a:t>
                      </a:r>
                      <a:endParaRPr lang="ru-RU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257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292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C0D4E2-751B-4939-B21B-7F6FE0620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моделей детекции лиц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1E8CA24-87AD-43B6-80BD-9836537A7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0B4A36F-92DB-46F2-8874-3880BFF2E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4000565"/>
              </p:ext>
            </p:extLst>
          </p:nvPr>
        </p:nvGraphicFramePr>
        <p:xfrm>
          <a:off x="903514" y="2126774"/>
          <a:ext cx="10515600" cy="3749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91306782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643921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508607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408784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ru-RU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Модель</a:t>
                      </a:r>
                      <a:endParaRPr lang="ru-RU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Скорость</a:t>
                      </a:r>
                      <a:endParaRPr lang="ru-RU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Точность</a:t>
                      </a:r>
                      <a:endParaRPr lang="ru-RU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Вердикт</a:t>
                      </a:r>
                      <a:endParaRPr lang="ru-RU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378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MTCNN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15–30 мс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Средняя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Пасует перед сложными углами поворота.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757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BlazeFace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2–5 мс</a:t>
                      </a:r>
                      <a:endParaRPr lang="ru-RU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Низкая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Слишком простая, только для смартфонов.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9351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RetinaFace (MobNet)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10–15 </a:t>
                      </a:r>
                      <a:r>
                        <a:rPr lang="ru-RU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мс</a:t>
                      </a:r>
                      <a:endParaRPr lang="ru-RU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Высокая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Хороший баланс, но мы искали максимум.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5968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RetinaFace (ResNet-50)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5–10 мс*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Очень высокая</a:t>
                      </a:r>
                      <a:endParaRPr lang="ru-RU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</a:t>
                      </a:r>
                      <a:r>
                        <a:rPr lang="ru-RU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Наш выбор:</a:t>
                      </a:r>
                      <a:r>
                        <a:rPr lang="ru-RU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Видит лица даже в профиль и при плохом свете.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4849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ru-RU" i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*На </a:t>
                      </a:r>
                      <a:r>
                        <a:rPr lang="en-US" i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GPU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endParaRPr lang="ru-RU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endParaRPr lang="ru-RU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endParaRPr lang="ru-RU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882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8892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5EB815-60F5-4799-A20B-B12CAD659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моделей построения </a:t>
            </a:r>
            <a:r>
              <a:rPr lang="ru-RU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эмбеддингов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930CDFCF-8B1C-4AC9-A0CC-72F4AC25E0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1975768"/>
              </p:ext>
            </p:extLst>
          </p:nvPr>
        </p:nvGraphicFramePr>
        <p:xfrm>
          <a:off x="895739" y="1933009"/>
          <a:ext cx="10458061" cy="3352800"/>
        </p:xfrm>
        <a:graphic>
          <a:graphicData uri="http://schemas.openxmlformats.org/drawingml/2006/table">
            <a:tbl>
              <a:tblPr/>
              <a:tblGrid>
                <a:gridCol w="2571361">
                  <a:extLst>
                    <a:ext uri="{9D8B030D-6E8A-4147-A177-3AD203B41FA5}">
                      <a16:colId xmlns:a16="http://schemas.microsoft.com/office/drawing/2014/main" val="35691129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7671178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548414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710885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ru-RU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Модель</a:t>
                      </a:r>
                      <a:endParaRPr lang="ru-RU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Точность</a:t>
                      </a:r>
                      <a:endParaRPr lang="ru-RU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Ресурсы</a:t>
                      </a:r>
                      <a:endParaRPr lang="ru-RU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Особенности</a:t>
                      </a:r>
                      <a:endParaRPr lang="ru-RU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7760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FaceNet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92%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Средние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Классика, но уже «старичок» в мире ИИ.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5894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MobileFaceNet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Минимальные</a:t>
                      </a:r>
                      <a:endParaRPr lang="ru-RU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Идеальна для слабых процессоров и ARM.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4111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CosFace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Высокие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Хорошая модель, но уступает лидеру.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5929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ArcFace (ResNet-100)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99.8%</a:t>
                      </a:r>
                      <a:endParaRPr lang="ru-RU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Высокие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✅ </a:t>
                      </a:r>
                      <a:r>
                        <a:rPr lang="ru-RU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Наш выбор:</a:t>
                      </a:r>
                      <a:r>
                        <a:rPr lang="ru-RU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Мировой рекордсмен по точности узнавания.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0716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3299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EFFF48-3B5D-4329-A644-BD08CA3A6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 проблемы теория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реальность</a:t>
            </a:r>
            <a:endParaRPr lang="ru-RU" sz="3200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B7C5ED2C-F6FF-48AE-B78B-E863F9970E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5709563"/>
              </p:ext>
            </p:extLst>
          </p:nvPr>
        </p:nvGraphicFramePr>
        <p:xfrm>
          <a:off x="838200" y="2149789"/>
          <a:ext cx="10515600" cy="32308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79265764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6675475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557205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/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Технология</a:t>
                      </a:r>
                      <a:endParaRPr lang="ru-RU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Как работает (Проблема)</a:t>
                      </a:r>
                      <a:endParaRPr lang="ru-RU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Эффект для системы (Результат)</a:t>
                      </a:r>
                      <a:endParaRPr lang="ru-RU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304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ru-RU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🛡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Margin Analysis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Если система сомневается между 2 и более людьми — </a:t>
                      </a:r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она молчит</a:t>
                      </a:r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Исключение случайных «выкриков» и ложных имен.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27854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⏱ Temporal Voting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 верим 1 кадру. Имя идет в отчет, только если нейросеть узнала человека </a:t>
                      </a:r>
                      <a:r>
                        <a:rPr lang="ru-RU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раз за 1 секунду</a:t>
                      </a:r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Полная фильтрация случайных бликов и помех.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0689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/>
                      <a:r>
                        <a:rPr lang="ru-RU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🚀 ИТОГ</a:t>
                      </a:r>
                      <a:endParaRPr lang="ru-RU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Методы снизили количество ошибок на </a:t>
                      </a:r>
                      <a:r>
                        <a:rPr lang="ru-RU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90%</a:t>
                      </a:r>
                      <a:r>
                        <a:rPr lang="ru-RU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ru-RU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Стабильный отчет даже при низком качестве видео.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9888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874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B0131B-9183-43D6-BCBF-46621B7B1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Преодоление технических барьеров и итоги тестирования системы в реальных условиях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2DBB4631-E302-4858-810C-4DF5A2456F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3909564"/>
              </p:ext>
            </p:extLst>
          </p:nvPr>
        </p:nvGraphicFramePr>
        <p:xfrm>
          <a:off x="838200" y="2060934"/>
          <a:ext cx="10515600" cy="3078480"/>
        </p:xfrm>
        <a:graphic>
          <a:graphicData uri="http://schemas.openxmlformats.org/drawingml/2006/table">
            <a:tbl>
              <a:tblPr/>
              <a:tblGrid>
                <a:gridCol w="2399190">
                  <a:extLst>
                    <a:ext uri="{9D8B030D-6E8A-4147-A177-3AD203B41FA5}">
                      <a16:colId xmlns:a16="http://schemas.microsoft.com/office/drawing/2014/main" val="3745844301"/>
                    </a:ext>
                  </a:extLst>
                </a:gridCol>
                <a:gridCol w="2705470">
                  <a:extLst>
                    <a:ext uri="{9D8B030D-6E8A-4147-A177-3AD203B41FA5}">
                      <a16:colId xmlns:a16="http://schemas.microsoft.com/office/drawing/2014/main" val="2676826986"/>
                    </a:ext>
                  </a:extLst>
                </a:gridCol>
                <a:gridCol w="2705470">
                  <a:extLst>
                    <a:ext uri="{9D8B030D-6E8A-4147-A177-3AD203B41FA5}">
                      <a16:colId xmlns:a16="http://schemas.microsoft.com/office/drawing/2014/main" val="2016636943"/>
                    </a:ext>
                  </a:extLst>
                </a:gridCol>
                <a:gridCol w="2705470">
                  <a:extLst>
                    <a:ext uri="{9D8B030D-6E8A-4147-A177-3AD203B41FA5}">
                      <a16:colId xmlns:a16="http://schemas.microsoft.com/office/drawing/2014/main" val="2858317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Блок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Вызов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Наше решение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Итог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876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📡 Доступ к потоковым данным</a:t>
                      </a:r>
                      <a:endParaRPr lang="ru-RU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YouTube 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блокирует </a:t>
                      </a:r>
                      <a:r>
                        <a:rPr lang="en-US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IP-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адреса ботов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Эмуляция действий пользователя + умное кэширование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Непрерывный</a:t>
                      </a: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поток данных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3509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🎬 Обработка сложного видео</a:t>
                      </a:r>
                      <a:endParaRPr lang="ru-RU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«Грязное» видео: свет, тени, дрожание камеры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Алгоритмы </a:t>
                      </a:r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Margin + Voting</a:t>
                      </a:r>
                      <a:endParaRPr lang="en-US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Чистый</a:t>
                      </a:r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отчет без дублей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398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⚡ Скорость в реальном времени</a:t>
                      </a:r>
                      <a:endParaRPr lang="ru-RU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Требование к мгновенной обработке live-видео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Связка </a:t>
                      </a:r>
                      <a:r>
                        <a:rPr lang="en-US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RetinaFace + ArcFace</a:t>
                      </a:r>
                      <a:endParaRPr lang="en-US" b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Задержка &lt; 1 сек.</a:t>
                      </a:r>
                      <a:r>
                        <a:rPr lang="ru-RU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до записи в БД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316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50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191BEA-E21A-4BF7-9E13-C6E69B047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Облачная инфраструктура и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91120C-A545-4D99-BE42-892740A2E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3698"/>
            <a:ext cx="10515600" cy="4351338"/>
          </a:xfrm>
        </p:spPr>
        <p:txBody>
          <a:bodyPr>
            <a:normAutofit/>
          </a:bodyPr>
          <a:lstStyle/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☁️ Google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Console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Настройка проекта и активация Google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Sheets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 и Google Drive API для связи с облаком.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🔑 Безопасность: Создан сервисный аккаунт с правами редактора и интегрирован файл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credentials.json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автоматической авторизации.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Логирование: Класс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AttendanceLogger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отправляет данные (имя, время, точность) в таблицу по уникальному идентификатору.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⚡ Скорость: Асинхронная запись данных позволяет избежать задержек в работе основного алгоритма. </a:t>
            </a:r>
          </a:p>
        </p:txBody>
      </p:sp>
    </p:spTree>
    <p:extLst>
      <p:ext uri="{BB962C8B-B14F-4D97-AF65-F5344CB8AC3E}">
        <p14:creationId xmlns:p14="http://schemas.microsoft.com/office/powerpoint/2010/main" val="443809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033E3A-65CE-4041-81A6-5D37D5FD1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Эксплуатация системы (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Real-time)</a:t>
            </a:r>
            <a:endParaRPr lang="ru-RU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AA184463-4AF2-4738-B4BF-441987F13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Техническая реализация </a:t>
            </a:r>
            <a:r>
              <a:rPr lang="ru-RU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видеоаналитики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🎥 Захват потока: Использование библиотеки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обработки видео с USB-камеры в разрешении 1080p.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🧠 Обработка: Каждый кадр проходит через модель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InsightFace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локализации лиц и формирования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эмбеддингов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⚖️ Верификация: Сравнение векторов через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CosineSimilarityVerifier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использованием эталонных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центроидов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🚀 Производительность: Скорость обработки достигает 25–30 кадров в секунду благодаря распараллеливанию процессов.</a:t>
            </a:r>
          </a:p>
        </p:txBody>
      </p:sp>
    </p:spTree>
    <p:extLst>
      <p:ext uri="{BB962C8B-B14F-4D97-AF65-F5344CB8AC3E}">
        <p14:creationId xmlns:p14="http://schemas.microsoft.com/office/powerpoint/2010/main" val="1982618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71283-E10F-4EB1-BFE0-27361E4E8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Выявленные проблемы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BD3881-0DD4-456B-991D-A2981F916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 текущей версии прототипа: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📁 Неполный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Отсутствие видеоматериалов части студентов ведет к невозможности их идентификации.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⚠️ Ошибки отождествления: Недостаток данных в базе может приводить к ложному узнаванию «чужих» лиц.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📸 Качество оборудования: Текущая USB-камера деградирует в условиях низкой освещенности и при интенсивном движении.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📉 Информационный шум: Сценический свет и тени создают визуальные помехи, требующие усиленной фильтрации.</a:t>
            </a:r>
          </a:p>
        </p:txBody>
      </p:sp>
    </p:spTree>
    <p:extLst>
      <p:ext uri="{BB962C8B-B14F-4D97-AF65-F5344CB8AC3E}">
        <p14:creationId xmlns:p14="http://schemas.microsoft.com/office/powerpoint/2010/main" val="3666767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06838C-960D-47F6-A4CD-085A12DAF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 и цели развития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FA8F5C-EF76-49D4-864A-628640EF2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725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ru-RU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Итоги и план внедрения</a:t>
            </a:r>
          </a:p>
          <a:p>
            <a:endParaRPr lang="ru-RU" dirty="0"/>
          </a:p>
          <a:p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Результат: Создан программно-аппаратный комплекс полного цикла: от сбора биометрии до облачной фиксации посещаемости.</a:t>
            </a:r>
          </a:p>
          <a:p>
            <a:endParaRPr lang="ru-RU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🎯 Эффективность: Механизм временного сглаживания и модель </a:t>
            </a:r>
            <a:r>
              <a:rPr lang="ru-RU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InsightFace</a:t>
            </a: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обеспечили высокую стабильность в реальных условиях.</a:t>
            </a:r>
          </a:p>
          <a:p>
            <a:endParaRPr lang="ru-RU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Ближайшие цели:</a:t>
            </a:r>
          </a:p>
          <a:p>
            <a:pPr marL="0" indent="0">
              <a:buNone/>
            </a:pPr>
            <a:endParaRPr lang="ru-RU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расширенного </a:t>
            </a:r>
            <a:r>
              <a:rPr lang="ru-RU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датасета</a:t>
            </a: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вариативностью ракурсов для всех студентов.</a:t>
            </a:r>
          </a:p>
          <a:p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Замена камеры на производительную модель с более высоким разрешением.</a:t>
            </a:r>
          </a:p>
          <a:p>
            <a:pPr marL="0" indent="0">
              <a:buNone/>
            </a:pPr>
            <a:endParaRPr lang="ru-RU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🏫 </a:t>
            </a:r>
            <a:r>
              <a:rPr lang="ru-RU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Перспектива</a:t>
            </a:r>
            <a:r>
              <a:rPr lang="ru-RU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Полная готовность к внедрению в учебный процесс после модернизации аппаратной части.</a:t>
            </a:r>
          </a:p>
        </p:txBody>
      </p:sp>
    </p:spTree>
    <p:extLst>
      <p:ext uri="{BB962C8B-B14F-4D97-AF65-F5344CB8AC3E}">
        <p14:creationId xmlns:p14="http://schemas.microsoft.com/office/powerpoint/2010/main" val="19728466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2925</TotalTime>
  <Words>855</Words>
  <Application>Microsoft Office PowerPoint</Application>
  <PresentationFormat>Широкоэкранный</PresentationFormat>
  <Paragraphs>159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Тема Office</vt:lpstr>
      <vt:lpstr>Нейросетевое распознавание лиц по камерам в реальном времени</vt:lpstr>
      <vt:lpstr>Решаемые задачи</vt:lpstr>
      <vt:lpstr>Сбор и подготовка датасета для тестирования модели</vt:lpstr>
      <vt:lpstr>Методы для решения проблемы информационного шума</vt:lpstr>
      <vt:lpstr>Сравнение методов способов классификации</vt:lpstr>
      <vt:lpstr>Сравнение моделей детекции лиц</vt:lpstr>
      <vt:lpstr>Сравнение моделей построения эмбеддингов</vt:lpstr>
      <vt:lpstr>Решение проблемы теория vs реальность</vt:lpstr>
      <vt:lpstr>Преодоление технических барьеров и итоги тестирования системы в реальных условиях</vt:lpstr>
      <vt:lpstr>Облачная инфраструктура и API</vt:lpstr>
      <vt:lpstr>Эксплуатация системы (Real-time)</vt:lpstr>
      <vt:lpstr>Выявленные проблемы</vt:lpstr>
      <vt:lpstr>Заключение и цели развития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Нейросетевое распознавание лиц по камерам в реальном времени</dc:title>
  <dc:creator>Артем Наземцев</dc:creator>
  <cp:lastModifiedBy>Артем Наземцев</cp:lastModifiedBy>
  <cp:revision>20</cp:revision>
  <dcterms:created xsi:type="dcterms:W3CDTF">2025-12-22T14:53:30Z</dcterms:created>
  <dcterms:modified xsi:type="dcterms:W3CDTF">2026-02-23T14:41:12Z</dcterms:modified>
</cp:coreProperties>
</file>